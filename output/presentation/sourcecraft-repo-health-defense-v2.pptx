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bee3adb53f44c4" /><Relationship Type="http://schemas.openxmlformats.org/officeDocument/2006/relationships/extended-properties" Target="/docProps/app.xml" Id="R12d4f0dc0552491b" /><Relationship Type="http://schemas.openxmlformats.org/officeDocument/2006/relationships/officeDocument" Target="/ppt/presentation.xml" Id="Re51401f05aee49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556a7f081a4168"/>
  </p:sldMasterIdLst>
  <p:notesMasterIdLst>
    <p:notesMasterId xmlns:r="http://schemas.openxmlformats.org/officeDocument/2006/relationships" r:id="R1e7d07a8f08e4e3a"/>
  </p:notesMasterIdLst>
  <p:sldIdLst>
    <p:sldId xmlns:r="http://schemas.openxmlformats.org/officeDocument/2006/relationships" id="256" r:id="Rb8328a6a46fe47b8"/>
    <p:sldId xmlns:r="http://schemas.openxmlformats.org/officeDocument/2006/relationships" id="257" r:id="R8b32e944ff6b437a"/>
    <p:sldId xmlns:r="http://schemas.openxmlformats.org/officeDocument/2006/relationships" id="258" r:id="Rcddc16403b4d4740"/>
    <p:sldId xmlns:r="http://schemas.openxmlformats.org/officeDocument/2006/relationships" id="259" r:id="R59330809e32641c6"/>
    <p:sldId xmlns:r="http://schemas.openxmlformats.org/officeDocument/2006/relationships" id="260" r:id="Rbcf83f04b74b465b"/>
    <p:sldId xmlns:r="http://schemas.openxmlformats.org/officeDocument/2006/relationships" id="261" r:id="Ra5e6aef6aca54982"/>
    <p:sldId xmlns:r="http://schemas.openxmlformats.org/officeDocument/2006/relationships" id="262" r:id="Rfcce84057fc64ada"/>
    <p:sldId xmlns:r="http://schemas.openxmlformats.org/officeDocument/2006/relationships" id="263" r:id="Rf3496c333f304bf9"/>
    <p:sldId xmlns:r="http://schemas.openxmlformats.org/officeDocument/2006/relationships" id="264" r:id="R7c91ea0ba64e4151"/>
    <p:sldId xmlns:r="http://schemas.openxmlformats.org/officeDocument/2006/relationships" id="265" r:id="R49457698121c49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400ecc7e8f43fa" /><Relationship Type="http://schemas.openxmlformats.org/officeDocument/2006/relationships/slideMaster" Target="/ppt/slideMasters/slideMaster1.xml" Id="R89556a7f081a4168" /><Relationship Type="http://schemas.openxmlformats.org/officeDocument/2006/relationships/notesMaster" Target="/ppt/notesMasters/notesMaster1.xml" Id="R1e7d07a8f08e4e3a" /><Relationship Type="http://schemas.openxmlformats.org/officeDocument/2006/relationships/presProps" Target="/ppt/presProps.xml" Id="R793a8497a09248e5" /><Relationship Type="http://schemas.openxmlformats.org/officeDocument/2006/relationships/tableStyles" Target="/ppt/tableStyles.xml" Id="R16982e63099a4bcc" /><Relationship Type="http://schemas.openxmlformats.org/officeDocument/2006/relationships/slide" Target="/ppt/slides/slide1.xml" Id="Rb8328a6a46fe47b8" /><Relationship Type="http://schemas.openxmlformats.org/officeDocument/2006/relationships/slide" Target="/ppt/slides/slide2.xml" Id="R8b32e944ff6b437a" /><Relationship Type="http://schemas.openxmlformats.org/officeDocument/2006/relationships/slide" Target="/ppt/slides/slide3.xml" Id="Rcddc16403b4d4740" /><Relationship Type="http://schemas.openxmlformats.org/officeDocument/2006/relationships/slide" Target="/ppt/slides/slide4.xml" Id="R59330809e32641c6" /><Relationship Type="http://schemas.openxmlformats.org/officeDocument/2006/relationships/slide" Target="/ppt/slides/slide5.xml" Id="Rbcf83f04b74b465b" /><Relationship Type="http://schemas.openxmlformats.org/officeDocument/2006/relationships/slide" Target="/ppt/slides/slide6.xml" Id="Ra5e6aef6aca54982" /><Relationship Type="http://schemas.openxmlformats.org/officeDocument/2006/relationships/slide" Target="/ppt/slides/slide7.xml" Id="Rfcce84057fc64ada" /><Relationship Type="http://schemas.openxmlformats.org/officeDocument/2006/relationships/slide" Target="/ppt/slides/slide8.xml" Id="Rf3496c333f304bf9" /><Relationship Type="http://schemas.openxmlformats.org/officeDocument/2006/relationships/slide" Target="/ppt/slides/slide9.xml" Id="R7c91ea0ba64e4151" /><Relationship Type="http://schemas.openxmlformats.org/officeDocument/2006/relationships/slide" Target="/ppt/slides/slide10.xml" Id="R49457698121c49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830b547fa34c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2fe30d2c6f4908" /><Relationship Type="http://schemas.openxmlformats.org/officeDocument/2006/relationships/notesMaster" Target="/ppt/notesMasters/notesMaster1.xml" Id="R7d57a513e8b346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cfc27ab8824c43" /><Relationship Type="http://schemas.openxmlformats.org/officeDocument/2006/relationships/notesMaster" Target="/ppt/notesMasters/notesMaster1.xml" Id="Rb117c4cfdf8c41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3cec04edbf4d0a" /><Relationship Type="http://schemas.openxmlformats.org/officeDocument/2006/relationships/notesMaster" Target="/ppt/notesMasters/notesMaster1.xml" Id="Ra759791cb5d845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2590d8804b4a79" /><Relationship Type="http://schemas.openxmlformats.org/officeDocument/2006/relationships/notesMaster" Target="/ppt/notesMasters/notesMaster1.xml" Id="R928df12a715f45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8065fddcf442b7" /><Relationship Type="http://schemas.openxmlformats.org/officeDocument/2006/relationships/notesMaster" Target="/ppt/notesMasters/notesMaster1.xml" Id="Rebad29405d854c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bf41f0c3d04454" /><Relationship Type="http://schemas.openxmlformats.org/officeDocument/2006/relationships/notesMaster" Target="/ppt/notesMasters/notesMaster1.xml" Id="R5e8c6c35b90d41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b522191e0a4143" /><Relationship Type="http://schemas.openxmlformats.org/officeDocument/2006/relationships/notesMaster" Target="/ppt/notesMasters/notesMaster1.xml" Id="R1fbd5f5e50ad49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bcd144948e47cb" /><Relationship Type="http://schemas.openxmlformats.org/officeDocument/2006/relationships/notesMaster" Target="/ppt/notesMasters/notesMaster1.xml" Id="R0b8794b3b82040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b51854fb414687" /><Relationship Type="http://schemas.openxmlformats.org/officeDocument/2006/relationships/notesMaster" Target="/ppt/notesMasters/notesMaster1.xml" Id="Rfbf1f84265d94e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ce3a1948a4429c" /><Relationship Type="http://schemas.openxmlformats.org/officeDocument/2006/relationships/notesMaster" Target="/ppt/notesMasters/notesMaster1.xml" Id="R04d98cd61e464b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показываем здоровье репозитория одним числом, но каждую оценку можно проверить по исходным данным. Решение рассчитано на разработчиков, тимлидов и менеджеров open source проектов. Источник требований: техническое задание Yandex Cloud / SourceCraft Repo Health.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Обычно команда смотрит на отдельные сигналы: зелёный pipeline, число issues или последнюю дату обновления. Они не дают единого ответа и могут противоречить друг другу. Repo Health объединяет их, сохраняя ссылку на каждый факт.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 написан на TypeScript и NestJS. Сначала коллекторы получают факты из SourceCraft. Scoring нормализует метрики и пересчитывает веса. BullMQ выполняет анализы асинхронно и повторяет временно неудачные запросы. PostgreSQL хранит историю и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 защищает проект от ложного падения оценки, когда API не вернул данные. Рядом со Score всегда показывается Data Coverage. Вес Security и Code Health выше, по 20 процентов. Остальные категории имеют вес 15 процентов.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отделяем плохое состояние проекта от отсутствия данных и от ошибки. На Dashboard пользователь видит исходное значение, нормализованный балл, вес, источник и evidence. Поэтому методику можно воспроизвести и оспорить.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Dashboard итоговый Score округляется до целого числа. Ниже пользователь раскрывает категории и видит все метрики. Из рейтинга можно открыть любой публичный репозиторий. После входа через Я ID появляется рабочая область и повторный запуск анализа.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Техническое задание запрещает имитировать AppSec собственным сканированием. Мы используем официальный SourceCraft CLI. Сейчас токен стенда не имеет права useAppSecScan для divkit/divkit, поэтому интерфейс честно покажет нет доступа. Источник: https://sourcecraft.dev/portal/docs/en/cli-ref/src-appsec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Граница крупного репозитория по ТЗ начинается с 10 тысяч файлов. Наш тест прогоняет 10 500. Пагинация получает по 500 записей. Общий кэш сокращает число запросов. Анализы выполняются очередью и автоматически повторяются при временном сбое.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backend тесты, frontend lint и production builds проходят. Dependency audit чистый. Docker Compose поднимает PostgreSQL, Redis, backend и frontend. Остались внешние параметры стенда: адрес HTTPS и разрешение AppSec для PAT.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демонстрации начинаем с рейтинга. Затем открываем divkit/divkit, объясняем Score и Data Coverage, раскрываем evidence. После входа через Я ID запускаем повторный анализ и показываем смену статусов. Завершаем выгрузкой отчёта и коротко объясняем масштабирование.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d8e23f0804d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4f2ad837f94297" /><Relationship Type="http://schemas.openxmlformats.org/officeDocument/2006/relationships/slideLayout" Target="/ppt/slideLayouts/slideLayout1.xml" Id="Rb9106fa1a0274a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106fa1a0274a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20b7b183d400e" /><Relationship Type="http://schemas.openxmlformats.org/officeDocument/2006/relationships/notesSlide" Target="/ppt/notesSlides/notesSlide1.xml" Id="R3f8cca3ece0040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adeded1ed4d61" /><Relationship Type="http://schemas.openxmlformats.org/officeDocument/2006/relationships/notesSlide" Target="/ppt/notesSlides/notesSlide2.xml" Id="Rb5eaff30545b49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e9796d97d4432" /><Relationship Type="http://schemas.openxmlformats.org/officeDocument/2006/relationships/notesSlide" Target="/ppt/notesSlides/notesSlide3.xml" Id="R5decffd087054f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74f8b1987438d" /><Relationship Type="http://schemas.openxmlformats.org/officeDocument/2006/relationships/chart" Target="/ppt/slides/charts/chart1.xml" Id="R4e079c2de540454b" /><Relationship Type="http://schemas.openxmlformats.org/officeDocument/2006/relationships/notesSlide" Target="/ppt/notesSlides/notesSlide4.xml" Id="R8a58a8a2054f44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11aabd505461c" /><Relationship Type="http://schemas.openxmlformats.org/officeDocument/2006/relationships/notesSlide" Target="/ppt/notesSlides/notesSlide5.xml" Id="R044f39d038fd47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99994a30846f5" /><Relationship Type="http://schemas.openxmlformats.org/officeDocument/2006/relationships/image" Target="/ppt/media/image.png" Id="Rf018e89ec4924f8f" /><Relationship Type="http://schemas.openxmlformats.org/officeDocument/2006/relationships/notesSlide" Target="/ppt/notesSlides/notesSlide6.xml" Id="R5a9babb6474e45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4f4e0d12140f6" /><Relationship Type="http://schemas.openxmlformats.org/officeDocument/2006/relationships/notesSlide" Target="/ppt/notesSlides/notesSlide7.xml" Id="R36fb21bb04ec4d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8404da5c2450b" /><Relationship Type="http://schemas.openxmlformats.org/officeDocument/2006/relationships/notesSlide" Target="/ppt/notesSlides/notesSlide8.xml" Id="R7e74d97610cc4d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ad27e72814907" /><Relationship Type="http://schemas.openxmlformats.org/officeDocument/2006/relationships/notesSlide" Target="/ppt/notesSlides/notesSlide9.xml" Id="Rfff76069ad7e42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e444791db4095" /><Relationship Type="http://schemas.openxmlformats.org/officeDocument/2006/relationships/notesSlide" Target="/ppt/notesSlides/notesSlide10.xml" Id="R87dbddfdc41d490c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Вес</c:v>
          </c:tx>
          <c:cat>
            <c:strLit>
              <c:ptCount val="6"/>
              <c:pt idx="0">
                <c:v>Security</c:v>
              </c:pt>
              <c:pt idx="1">
                <c:v>Activity</c:v>
              </c:pt>
              <c:pt idx="2">
                <c:v>Documentation</c:v>
              </c:pt>
              <c:pt idx="3">
                <c:v>CI/CD</c:v>
              </c:pt>
              <c:pt idx="4">
                <c:v>Issues</c:v>
              </c:pt>
              <c:pt idx="5">
                <c:v>Code Health</c:v>
              </c:pt>
            </c:strLit>
          </c:cat>
          <c:val>
            <c:numLit>
              <c:formatCode>General</c:formatCode>
              <c:ptCount val="6"/>
              <c:pt idx="0">
                <c:v>20</c:v>
              </c:pt>
              <c:pt idx="1">
                <c:v>15</c:v>
              </c:pt>
              <c:pt idx="2">
                <c:v>15</c:v>
              </c:pt>
              <c:pt idx="3">
                <c:v>15</c:v>
              </c:pt>
              <c:pt idx="4">
                <c:v>15</c:v>
              </c:pt>
              <c:pt idx="5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F8FAFC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70"/>
        <c:holeSize val="58"/>
      </c:doughnutChart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53349-56A2-4725-A1A9-90DDCBD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809625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6EA8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0AB96-EE3B-43A0-8C5B-0C9B4013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3811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2A4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967D2-E9FE-4110-8A43-9E2B0A89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335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758FF-46AC-468D-AD06-C0D3E8EF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/ 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6AD4F-65B4-43DC-96A7-70D9549D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D5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8D5E8"/>
                </a:solidFill>
                <a:latin typeface="Arial"/>
                <a:ea typeface="Arial"/>
                <a:cs typeface="Arial"/>
              </a:rPr>
              <a:t>SOURCECRAFT REPO 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0BCF1-58A4-40EE-8E38-D6BF3066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76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Объяснимая оценка</a:t>
            </a:r>
          </a:p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здоровья репозитория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2B26E-5142-4C28-A297-AF4DA2A0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Публичный рейтинг, факты по шести категориям и конкретный план улучшений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8AAE1-C60E-4BBD-B7A3-B0FE6C2A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EA8FE"/>
                </a:solidFill>
                <a:latin typeface="Arial"/>
                <a:ea typeface="Arial"/>
                <a:cs typeface="Arial"/>
              </a:rPr>
              <a:t>Хакатон Yandex Cloud × SourceCraft</a:t>
            </a:r>
          </a:p>
        </p:txBody>
      </p:sp>
    </p:spTree>
    <p:extLst>
      <p:ext uri="{BB962C8B-B14F-4D97-AF65-F5344CB8AC3E}">
        <p14:creationId xmlns:p14="http://schemas.microsoft.com/office/powerpoint/2010/main" val="909996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32A56-70F5-4534-B7A4-29002113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Проблема: данные есть, общей картины нет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18582-5F3F-41E8-B94D-8F53D226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5277B-D784-49A5-A6F6-FBC5782C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05939-730D-404C-A98D-12E6C2B4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Состояние проекта приходится собирать вручную из CI, issues, активности, документации и AppSec.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3D4BE-B915-49A7-A97A-99F298C8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D5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D5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7E290-337C-407E-B578-F1FABC81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479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Разные источники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56A93-A20D-4C76-82DA-4F707339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575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Сигналы разбросаны по разделам SourceCraft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60D48-AE23-4C24-BE41-3D1C4F75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D5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D5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BCC1C-FED6-4B78-8EBC-9776891C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99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Нет приоритета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0766B-A848-4B32-9971-D9131468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Непонятно, что сильнее влияет на здоровье проекта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413DE-05C5-4EEF-800A-3E02AE11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D5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D5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D52CD-2E62-40B6-93FF-3A51804D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720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Слабая проверяемость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947AD-4AAF-44AB-BDEF-E92FB012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Общий балл бесполезен без фактов и методики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C6A52-7A59-499C-AA0A-9A837384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4290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327D0-36BA-4666-A981-FBD8EB1E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57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Нужен ответ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63469-7666-4183-AD07-1094788D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Можно ли доверять репозиторию сегодня?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55317-B381-4769-8F42-EC692987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И какие действия дадут измеримый результат?</a:t>
            </a:r>
          </a:p>
        </p:txBody>
      </p:sp>
    </p:spTree>
    <p:extLst>
      <p:ext uri="{BB962C8B-B14F-4D97-AF65-F5344CB8AC3E}">
        <p14:creationId xmlns:p14="http://schemas.microsoft.com/office/powerpoint/2010/main" val="545215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58477-022C-4D25-B55C-5931F1F8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Как работает Repo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41B73-AA97-44B5-8DB6-AB21411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3FCD9-014A-476B-83DB-446F138D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B3DF1-E91B-4740-A2C3-47AC1F79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6EA8FE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SourceCraft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API +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F64AD-C27A-470C-B3D6-7A192D25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58D5E8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Коллекторы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6 категорий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6960A-9433-43C7-8612-29C10BCC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65D89A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Scoring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0–100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1332D-E006-495C-82CF-63D39AE6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F6C667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и рейтинг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67000" y="29527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B6C9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381625" y="29527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B6C9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096250" y="29527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B6C9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7F9E3-AFA9-4D90-9D94-2FBE63F2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48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BullMQ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DC491-0096-418E-A43A-37CE774C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5D89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D89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A9463-F7CD-455F-8FEF-387658A9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196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очередь, retry, scheduler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3EC52-0CC6-48B9-B6CF-19AAA1CA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196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история, evidence, отчёты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A0BB1-3792-4ECE-B269-ED86FA1D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292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Если источник недоступен, анализ продолжается по оставшимся данным</a:t>
            </a:r>
          </a:p>
        </p:txBody>
      </p:sp>
    </p:spTree>
    <p:extLst>
      <p:ext uri="{BB962C8B-B14F-4D97-AF65-F5344CB8AC3E}">
        <p14:creationId xmlns:p14="http://schemas.microsoft.com/office/powerpoint/2010/main" val="103694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7D033-0664-49C9-B9D8-4793A2C1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Repo Health Score: шесть категорий и честные веса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0E0BA-9BFE-430A-B716-BDEB56E7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FDC1D-29A7-4576-B0B3-36E37F13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5334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079c2de540454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91E7A-5D57-4DCC-BBBD-5D506E35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8D5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8D5E8"/>
                </a:solidFill>
                <a:latin typeface="Arial"/>
                <a:ea typeface="Arial"/>
                <a:cs typeface="Arial"/>
              </a:rPr>
              <a:t>Score = Σ(category score × weight)</a:t>
            </a:r>
          </a:p>
          <a:p xmlns:a="http://schemas.openxmlformats.org/drawingml/2006/main">
            <a:pPr algn="ctr">
              <a:defRPr sz="2100" b="1">
                <a:solidFill>
                  <a:srgbClr val="58D5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8D5E8"/>
                </a:solidFill>
                <a:latin typeface="Arial"/>
                <a:ea typeface="Arial"/>
                <a:cs typeface="Arial"/>
              </a:rPr>
              <a:t>             Σ(available weight)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34DCF-9A3A-481D-BFD5-E2F36AFC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Недоступная категория не превращается в ноль. Её вес исключается из знаменателя.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483E5-E345-411F-9C11-77B8607C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Data Coverage показывает, какая доля исходных весов подтверждена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1430278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2120E-BF4C-4F23-BB27-9ABF2B89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Каждый балл связан с проверяемым фактом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4AB74-2C7C-4CFA-9766-AB1C8130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07224-374E-41DE-80B9-D8CE618B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5C883-55B3-456A-A761-CC144603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D8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5D89A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5F866-849A-4AE3-A9BA-84059CFF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Источник ответил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924D7-6967-4331-8A24-30060C08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D8B92-6453-4C1D-BDE8-E8DAB8EE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NO_DATA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03E5C-057C-494D-BCD6-F0BA303E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00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Данных действительно нет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44CD8-CDB5-4E78-8FCE-FA965A2C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6B4AA-BE31-449D-BE7B-E8416CC8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18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C66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C667"/>
                </a:solidFill>
                <a:latin typeface="Arial"/>
                <a:ea typeface="Arial"/>
                <a:cs typeface="Arial"/>
              </a:rPr>
              <a:t>PERMISSION_DENIED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D3E45-D6A2-433F-849A-DEC199C8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71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У токена нет доступа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D6EE5-3863-4926-9E6E-635BC0ED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243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0A5A8-9294-4E00-8540-17EF8BA4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434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A7A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A7A86"/>
                </a:solidFill>
                <a:latin typeface="Arial"/>
                <a:ea typeface="Arial"/>
                <a:cs typeface="Arial"/>
              </a:rPr>
              <a:t>COLLECTION_ERROR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A19A8-6C50-4572-AC99-29CE45A9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43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Временная ошибка источника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9C1C9-2D3F-48CE-8CC5-FB46E633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9585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42D5C-A8F9-4A62-803C-2FD61695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2857500" cy="3905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ACD97-F755-4EBD-A397-34AB6A8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8D5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8D5E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4D4A4-0F53-429B-A968-845DCD1E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047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Исходное значение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Источник метрики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Вес в категории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Объяснение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Ссылка или объект</a:t>
            </a:r>
          </a:p>
        </p:txBody>
      </p:sp>
    </p:spTree>
    <p:extLst>
      <p:ext uri="{BB962C8B-B14F-4D97-AF65-F5344CB8AC3E}">
        <p14:creationId xmlns:p14="http://schemas.microsoft.com/office/powerpoint/2010/main" val="39752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37308-CFA1-48A1-8C79-95A69B57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Dashboard показывает итог и детали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DD0F1-F4E3-4EDE-B78E-442D3ABB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5C20A-1F18-475E-A7D4-22BBAF7B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9F4CC-23A8-4E3B-9BFB-6F1C9D01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6EA8FE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8e89ec4924f8f"/>
          <a:stretch xmlns:a="http://schemas.openxmlformats.org/drawingml/2006/main"/>
        </p:blipFill>
        <p:spPr>
          <a:xfrm xmlns:a="http://schemas.openxmlformats.org/drawingml/2006/main">
            <a:off x="990600" y="1574676"/>
            <a:ext cx="3524250" cy="428014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8CFFF-2F1E-4893-BFC9-434ABCFC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7637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8D5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8D5E8"/>
                </a:solidFill>
                <a:latin typeface="Arial"/>
                <a:ea typeface="Arial"/>
                <a:cs typeface="Arial"/>
              </a:rPr>
              <a:t>Главные пользовательские сценарии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25AAC-A570-4BED-B7E2-A4361F93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Рейтинг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4E821-9B0A-4D27-BB5B-89AFC6C4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Сортировка по Score, likes и активности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C805F-9BBF-43B4-8357-F9DE4361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33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D8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5D89A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A9A3E-66BB-4427-BDD0-E8E5466A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337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Первичный запуск и повторный расчёт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71D86-C3CD-4F89-956A-30C12F08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29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Рекомендации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9F3EF-14E7-404A-A186-FC375615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290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Приоритет и ожидаемый прирост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52649-D0F0-4785-AE63-1C3596AB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9244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D8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5D89A"/>
                </a:solidFill>
                <a:latin typeface="Arial"/>
                <a:ea typeface="Arial"/>
                <a:cs typeface="Arial"/>
              </a:rPr>
              <a:t>Отчёт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1C765-6F14-4B21-8971-D2878BF3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Markdown, PDF и публичный SVG badge</a:t>
            </a:r>
          </a:p>
        </p:txBody>
      </p:sp>
    </p:spTree>
    <p:extLst>
      <p:ext uri="{BB962C8B-B14F-4D97-AF65-F5344CB8AC3E}">
        <p14:creationId xmlns:p14="http://schemas.microsoft.com/office/powerpoint/2010/main" val="421065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66B5A-F28D-4BD1-9BD6-1B8E83BC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Security использует только реальные findings SourceCraft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D2EED-3384-4F04-B5A4-2BE7DFD7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CA52D-FB22-4593-8E64-BAEA9CBA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52856-715D-41A4-8AB0-81FA8955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8D5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8D5E8"/>
                </a:solidFill>
                <a:latin typeface="Arial"/>
                <a:ea typeface="Arial"/>
                <a:cs typeface="Arial"/>
              </a:rPr>
              <a:t>SourceCraft AppSec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49177-8539-4035-8284-15FA4090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76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1927"/>
          </a:solidFill>
          <a:ln xmlns:a="http://schemas.openxmlformats.org/drawingml/2006/main" w="9525">
            <a:solidFill>
              <a:srgbClr val="6EA8FE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src appsec defect list --json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01940-087F-4C41-BEDB-6FD953A1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FA7A86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A7A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A7A86"/>
                </a:solidFill>
                <a:latin typeface="Arial"/>
                <a:ea typeface="Arial"/>
                <a:cs typeface="Arial"/>
              </a:rPr>
              <a:t>SAST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DEFE6-04D3-4990-B25F-E50B129C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F6C667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C6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C667"/>
                </a:solidFill>
                <a:latin typeface="Arial"/>
                <a:ea typeface="Arial"/>
                <a:cs typeface="Arial"/>
              </a:rPr>
              <a:t>SCA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6F21B-E68F-4BA8-80CC-CDCDC01A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6EA8FE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SECRET SCANNING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D9C36-AB55-48E5-B5D4-7E37F572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10050"/>
            <a:ext cx="2095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65D89A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D8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D89A"/>
                </a:solidFill>
                <a:latin typeface="Arial"/>
                <a:ea typeface="Arial"/>
                <a:cs typeface="Arial"/>
              </a:rPr>
              <a:t>REMEDIATION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45518-2E27-435F-A580-D67D431F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28750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2A42"/>
          </a:solidFill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4A3A6-8BE1-4D5C-A8ED-19B4A20A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573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5D8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D89A"/>
                </a:solidFill>
                <a:latin typeface="Arial"/>
                <a:ea typeface="Arial"/>
                <a:cs typeface="Arial"/>
              </a:rPr>
              <a:t>Правило честности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FE314-2B89-4C65-8A6F-EDE48D43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24125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Если AppSec недоступен или токен не имеет права useAppSecScan, Security получает статус NO_DATA или PERMISSION_DENIED.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215DA-C590-4B72-8380-0C173C20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381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Вес перераспределяется. Наличие SECURITY.md не выдаётся за отсутствие уязвимостей.</a:t>
            </a:r>
          </a:p>
        </p:txBody>
      </p:sp>
    </p:spTree>
    <p:extLst>
      <p:ext uri="{BB962C8B-B14F-4D97-AF65-F5344CB8AC3E}">
        <p14:creationId xmlns:p14="http://schemas.microsoft.com/office/powerpoint/2010/main" val="1410851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49F93-DE08-4308-85DE-426BF037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Масштабирование и устойчивость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FD14E-0D5D-48BB-8878-1992F454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CA81C-6350-4E9F-B389-53533440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61975-A0AC-49E4-92FD-5021F14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8D5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8D5E8"/>
                </a:solidFill>
                <a:latin typeface="Arial"/>
                <a:ea typeface="Arial"/>
                <a:cs typeface="Arial"/>
              </a:rPr>
              <a:t>10 500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A1B4E-AEBF-4EDF-8470-13CB9F9B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193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файлов в воспроизводимом тесте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EECE3-5921-494A-8715-C5A2E648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A8AD4-D0BB-4A23-A15B-B57B3A27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файлов на страницу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5DF6C-B89E-4B0D-B8FF-D9E4E2B4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5D8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5D89A"/>
                </a:solidFill>
                <a:latin typeface="Arial"/>
                <a:ea typeface="Arial"/>
                <a:cs typeface="Arial"/>
              </a:rPr>
              <a:t>24 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072B9-3130-4E76-A105-AD58B79B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интервал регулярного пересчёта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555B7-0E42-4759-BF9A-9DA9EEA4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C6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C667"/>
                </a:solidFill>
                <a:latin typeface="Arial"/>
                <a:ea typeface="Arial"/>
                <a:cs typeface="Arial"/>
              </a:rPr>
              <a:t>Пагинация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9A830-6016-4133-A3AD-6B66DA3D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Дерево загружается частями с защитным лимитом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F5276-5787-4AB7-8529-87F3FBC0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Общий кэш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3B263-3AD9-4277-8309-36CA455A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Коллекторы не повторяют один и тот же запрос дерева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20D4B-603C-4972-9BA8-3FF99136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C6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C667"/>
                </a:solidFill>
                <a:latin typeface="Arial"/>
                <a:ea typeface="Arial"/>
                <a:cs typeface="Arial"/>
              </a:rPr>
              <a:t>Очередь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32399-52F1-4194-8F7F-985D95EF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BullMQ разделяет web-запрос и тяжёлый анализ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977A1-BAE4-4664-ACDF-8B218F0B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Изоляция ошибок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04FBB-6CE6-41A0-8C2B-2C57A307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Сбой одного источника не отменяет весь Score</a:t>
            </a:r>
          </a:p>
        </p:txBody>
      </p:sp>
    </p:spTree>
    <p:extLst>
      <p:ext uri="{BB962C8B-B14F-4D97-AF65-F5344CB8AC3E}">
        <p14:creationId xmlns:p14="http://schemas.microsoft.com/office/powerpoint/2010/main" val="1671953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B8701-4FB1-497E-9FA8-E7BDAA42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Состояние прототипа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C44B3-CBFE-4CCE-9AF9-9797654B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C0819-951C-429D-A99D-4AC5BBB4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F2523-FFEB-42D0-A8F9-1AFE1A5A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5D8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5D89A"/>
                </a:solidFill>
                <a:latin typeface="Arial"/>
                <a:ea typeface="Arial"/>
                <a:cs typeface="Arial"/>
              </a:rPr>
              <a:t>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7385C-40F2-46A4-85D2-A2B19284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автоматических теста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3CCDF-3CA4-4719-B5ED-DD92B9BC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5D8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5D89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F1E05-1C6C-4FD0-B5AE-D4A322AD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716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известных уязвимостей зависимостей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C1F75-FAE4-4293-8E67-B3616E69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E08E3-775C-462F-ACE1-38B3E78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716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ответ API и 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D5434-B2BC-42A6-88E4-14859E1E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5D89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5D89A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E7E98-597F-4799-B1D7-E52F84B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Docker Compose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Я ID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Рейтинг и Dashboard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Markdown и PDF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Scheduler и retry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CI и Dependabot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C108B-B395-4B8C-82C8-8F8B5606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C66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C667"/>
                </a:solidFill>
                <a:latin typeface="Arial"/>
                <a:ea typeface="Arial"/>
                <a:cs typeface="Arial"/>
              </a:rPr>
              <a:t>Зависит от стенда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A7A1E-B6ED-44A2-86EB-F1829E2B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67125"/>
            <a:ext cx="342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Публичный HTTPS URL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AppSec permission для PAT</a:t>
            </a:r>
          </a:p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Доступность SourceCraft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4112D-E0DA-41D7-B672-0236A11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Безопасное</a:t>
            </a:r>
          </a:p>
          <a:p xmlns:a="http://schemas.openxmlformats.org/drawingml/2006/main">
            <a:pPr algn="l">
              <a:defRPr sz="1875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поведение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7687B-DC7D-458F-B8CC-CE710AFF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Секреты не попадают в Git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Private repos не публикуются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Недоступные данные не штрафуют Score</a:t>
            </a:r>
          </a:p>
        </p:txBody>
      </p:sp>
    </p:spTree>
    <p:extLst>
      <p:ext uri="{BB962C8B-B14F-4D97-AF65-F5344CB8AC3E}">
        <p14:creationId xmlns:p14="http://schemas.microsoft.com/office/powerpoint/2010/main" val="781333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19D4B-0761-49BC-B66E-87111677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Сценарий защиты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4DCD4-0671-4EC0-ABF5-4D0B6B5A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76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A8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A8F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9DE7D-C8EB-4BF1-A1B2-1182C10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3861E-51D1-46FC-9006-5B8D118B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D0156-0E33-4411-B0F2-0ECF0E0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Рейтинг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143C9-3F2E-4702-AB6B-707797F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Фильтры и сортировка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C7761-A78A-4CB8-9E0C-90C98D97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050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7FCFD-F278-4DAC-8098-6266BF33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AD0CC-989F-4FB1-9ABF-9089F21D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2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EF3E9-79F8-4EC5-954F-540D171B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52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Score, coverage,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7AD2B-1258-4321-A81F-1827165E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4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7DA07-C324-462B-8B63-0E3C4A2E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F2029-8E2C-4C51-A29F-ECA51981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Повторный анализ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D5433-E938-4192-ADBC-709339C2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Очередь и история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9B7FB-D7D9-44F4-9E85-8B4F184C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4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FFD59-E0A9-4963-89C5-B86E8C86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8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39EF7-D349-426F-AC85-C53C0026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Отчёт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3DEB2-37DD-46F4-9E4F-13C23ABF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6C9"/>
                </a:solidFill>
                <a:latin typeface="Arial"/>
                <a:ea typeface="Arial"/>
                <a:cs typeface="Arial"/>
              </a:rPr>
              <a:t>Markdown или 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3C765-1636-4A4D-AB9C-53C32F1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8D5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8D5E8"/>
                </a:solidFill>
                <a:latin typeface="Arial"/>
                <a:ea typeface="Arial"/>
                <a:cs typeface="Arial"/>
              </a:rPr>
              <a:t>Результат: решение показывает не только оценку, но и следующий проверяемый шаг</a:t>
            </a:r>
          </a:p>
        </p:txBody>
      </p:sp>
    </p:spTree>
    <p:extLst>
      <p:ext uri="{BB962C8B-B14F-4D97-AF65-F5344CB8AC3E}">
        <p14:creationId xmlns:p14="http://schemas.microsoft.com/office/powerpoint/2010/main" val="1575473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2026-09-24T11:45:10.7630000Z</dcterms:created>
  <dcterms:modified xsi:type="dcterms:W3CDTF">2026-09-24T11:45:10.7630000Z</dcterms:modified>
</coreProperties>
</file>